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Ford</c:v>
                </c:pt>
                <c:pt idx="1">
                  <c:v>Chevrolet</c:v>
                </c:pt>
                <c:pt idx="2">
                  <c:v>Nissan</c:v>
                </c:pt>
                <c:pt idx="3">
                  <c:v>Toyota</c:v>
                </c:pt>
                <c:pt idx="4">
                  <c:v>BMW</c:v>
                </c:pt>
                <c:pt idx="5">
                  <c:v>Mercedes-Benz</c:v>
                </c:pt>
                <c:pt idx="6">
                  <c:v>Dodge</c:v>
                </c:pt>
                <c:pt idx="7">
                  <c:v>Infiniti</c:v>
                </c:pt>
                <c:pt idx="8">
                  <c:v>Honda</c:v>
                </c:pt>
                <c:pt idx="9">
                  <c:v>Lexus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1360.3</c:v>
                </c:pt>
                <c:pt idx="1">
                  <c:v>721</c:v>
                </c:pt>
                <c:pt idx="2">
                  <c:v>633.29999999999995</c:v>
                </c:pt>
                <c:pt idx="3">
                  <c:v>488.4</c:v>
                </c:pt>
                <c:pt idx="4">
                  <c:v>438.1</c:v>
                </c:pt>
                <c:pt idx="5">
                  <c:v>370.1</c:v>
                </c:pt>
                <c:pt idx="6">
                  <c:v>344.1</c:v>
                </c:pt>
                <c:pt idx="7">
                  <c:v>312.5</c:v>
                </c:pt>
                <c:pt idx="8">
                  <c:v>297.60000000000002</c:v>
                </c:pt>
                <c:pt idx="9">
                  <c:v>240.6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A7-4F13-9B7D-FB00361C56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cap="none" dirty="0">
                <a:solidFill>
                  <a:srgbClr val="1E2761"/>
                </a:solidFill>
                <a:latin typeface="+mn-lt"/>
                <a:ea typeface="Georgia" pitchFamily="34" charset="-122"/>
                <a:cs typeface="Georgia" pitchFamily="34" charset="-120"/>
              </a:rPr>
              <a:t>Sales By Body Style</a:t>
            </a:r>
            <a:endParaRPr lang="en-US" sz="2000" cap="none" dirty="0">
              <a:latin typeface="+mn-lt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17B-424A-A804-8F04CF7FFBB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17B-424A-A804-8F04CF7FFBB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E17B-424A-A804-8F04CF7FFBB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E17B-424A-A804-8F04CF7FFBB1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E17B-424A-A804-8F04CF7FFBB1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E17B-424A-A804-8F04CF7FFBB1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E17B-424A-A804-8F04CF7FFBB1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E17B-424A-A804-8F04CF7FFBB1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E17B-424A-A804-8F04CF7FFBB1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3-E17B-424A-A804-8F04CF7FFBB1}"/>
              </c:ext>
            </c:extLst>
          </c:dPt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Sheet1!$A$2:$A$11</c:f>
              <c:strCache>
                <c:ptCount val="10"/>
                <c:pt idx="0">
                  <c:v>Sedan</c:v>
                </c:pt>
                <c:pt idx="1">
                  <c:v>SUV</c:v>
                </c:pt>
                <c:pt idx="2">
                  <c:v>sedan</c:v>
                </c:pt>
                <c:pt idx="3">
                  <c:v>suv</c:v>
                </c:pt>
                <c:pt idx="4">
                  <c:v>Crew Cab</c:v>
                </c:pt>
                <c:pt idx="5">
                  <c:v>Minivan</c:v>
                </c:pt>
                <c:pt idx="6">
                  <c:v>Coupe</c:v>
                </c:pt>
                <c:pt idx="7">
                  <c:v>Hatchback</c:v>
                </c:pt>
                <c:pt idx="8">
                  <c:v>SuperCrew</c:v>
                </c:pt>
                <c:pt idx="9">
                  <c:v>Convertible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199356</c:v>
                </c:pt>
                <c:pt idx="1">
                  <c:v>119292</c:v>
                </c:pt>
                <c:pt idx="2">
                  <c:v>41878</c:v>
                </c:pt>
                <c:pt idx="3">
                  <c:v>24552</c:v>
                </c:pt>
                <c:pt idx="4">
                  <c:v>13280</c:v>
                </c:pt>
                <c:pt idx="5">
                  <c:v>21363</c:v>
                </c:pt>
                <c:pt idx="6">
                  <c:v>14602</c:v>
                </c:pt>
                <c:pt idx="7">
                  <c:v>21380</c:v>
                </c:pt>
                <c:pt idx="8">
                  <c:v>7423</c:v>
                </c:pt>
                <c:pt idx="9">
                  <c:v>8652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E17B-424A-A804-8F04CF7FFBB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ZA" sz="1100" b="0" i="0" u="none" strike="noStrike">
                <a:solidFill>
                  <a:srgbClr val="0D1B3E"/>
                </a:solidFill>
                <a:latin typeface="Arial"/>
              </a:rPr>
              <a:t>Transmission Split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Transmission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079-4234-9C4D-BFC23509A125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079-4234-9C4D-BFC23509A12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079-4234-9C4D-BFC23509A12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079-4234-9C4D-BFC23509A12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Automatic</c:v>
                </c:pt>
                <c:pt idx="1">
                  <c:v>Manual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467915</c:v>
                </c:pt>
                <c:pt idx="1">
                  <c:v>16993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079-4234-9C4D-BFC23509A1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FL</c:v>
                </c:pt>
                <c:pt idx="1">
                  <c:v>CA</c:v>
                </c:pt>
                <c:pt idx="2">
                  <c:v>PA</c:v>
                </c:pt>
                <c:pt idx="3">
                  <c:v>TX</c:v>
                </c:pt>
                <c:pt idx="4">
                  <c:v>GA</c:v>
                </c:pt>
                <c:pt idx="5">
                  <c:v>NJ</c:v>
                </c:pt>
                <c:pt idx="6">
                  <c:v>TN</c:v>
                </c:pt>
                <c:pt idx="7">
                  <c:v>IL</c:v>
                </c:pt>
                <c:pt idx="8">
                  <c:v>OH</c:v>
                </c:pt>
                <c:pt idx="9">
                  <c:v>MO</c:v>
                </c:pt>
                <c:pt idx="10">
                  <c:v>MI</c:v>
                </c:pt>
                <c:pt idx="11">
                  <c:v>NV</c:v>
                </c:pt>
                <c:pt idx="12">
                  <c:v>NC</c:v>
                </c:pt>
                <c:pt idx="13">
                  <c:v>WI</c:v>
                </c:pt>
                <c:pt idx="14">
                  <c:v>MN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1138.8</c:v>
                </c:pt>
                <c:pt idx="1">
                  <c:v>1041.9000000000001</c:v>
                </c:pt>
                <c:pt idx="2">
                  <c:v>852.5</c:v>
                </c:pt>
                <c:pt idx="3">
                  <c:v>600.9</c:v>
                </c:pt>
                <c:pt idx="4">
                  <c:v>442.4</c:v>
                </c:pt>
                <c:pt idx="5">
                  <c:v>372.4</c:v>
                </c:pt>
                <c:pt idx="6">
                  <c:v>353.2</c:v>
                </c:pt>
                <c:pt idx="7">
                  <c:v>344.4</c:v>
                </c:pt>
                <c:pt idx="8">
                  <c:v>305</c:v>
                </c:pt>
                <c:pt idx="9">
                  <c:v>230</c:v>
                </c:pt>
                <c:pt idx="10">
                  <c:v>229</c:v>
                </c:pt>
                <c:pt idx="11">
                  <c:v>188.7</c:v>
                </c:pt>
                <c:pt idx="12">
                  <c:v>186.5</c:v>
                </c:pt>
                <c:pt idx="13">
                  <c:v>136.4</c:v>
                </c:pt>
                <c:pt idx="14">
                  <c:v>128.30000000000001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07-4D81-992F-546B55102C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1745</c:v>
                </c:pt>
                <c:pt idx="1">
                  <c:v>2132</c:v>
                </c:pt>
                <c:pt idx="2">
                  <c:v>2620</c:v>
                </c:pt>
                <c:pt idx="3">
                  <c:v>3359</c:v>
                </c:pt>
                <c:pt idx="4">
                  <c:v>4265</c:v>
                </c:pt>
                <c:pt idx="5">
                  <c:v>4875</c:v>
                </c:pt>
                <c:pt idx="6">
                  <c:v>6061</c:v>
                </c:pt>
                <c:pt idx="7">
                  <c:v>7970</c:v>
                </c:pt>
                <c:pt idx="8">
                  <c:v>9534</c:v>
                </c:pt>
                <c:pt idx="9">
                  <c:v>10461</c:v>
                </c:pt>
                <c:pt idx="10">
                  <c:v>12453</c:v>
                </c:pt>
                <c:pt idx="11">
                  <c:v>15877</c:v>
                </c:pt>
                <c:pt idx="12">
                  <c:v>16605</c:v>
                </c:pt>
                <c:pt idx="13">
                  <c:v>17475</c:v>
                </c:pt>
                <c:pt idx="14">
                  <c:v>20042</c:v>
                </c:pt>
                <c:pt idx="15">
                  <c:v>26035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A1-495B-9F69-425016E6ED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ZA" sz="1200" b="0" i="0" u="none" strike="noStrike">
                    <a:solidFill>
                      <a:srgbClr val="000000"/>
                    </a:solidFill>
                    <a:latin typeface="Arial"/>
                  </a:rPr>
                  <a:t>Avg Selling Price ($)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0-20k</c:v>
                </c:pt>
                <c:pt idx="1">
                  <c:v>20-50k</c:v>
                </c:pt>
                <c:pt idx="2">
                  <c:v>50-100k</c:v>
                </c:pt>
                <c:pt idx="3">
                  <c:v>100-150k</c:v>
                </c:pt>
                <c:pt idx="4">
                  <c:v>150-200k</c:v>
                </c:pt>
                <c:pt idx="5">
                  <c:v>200k+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21397</c:v>
                </c:pt>
                <c:pt idx="1">
                  <c:v>17840</c:v>
                </c:pt>
                <c:pt idx="2">
                  <c:v>11815</c:v>
                </c:pt>
                <c:pt idx="3">
                  <c:v>6011</c:v>
                </c:pt>
                <c:pt idx="4">
                  <c:v>3516</c:v>
                </c:pt>
                <c:pt idx="5">
                  <c:v>2554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2B-4D8F-B464-077B2AD324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61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C56-49D7-9BD4-27BBB59B19EE}"/>
              </c:ext>
            </c:extLst>
          </c:dPt>
          <c:dPt>
            <c:idx val="1"/>
            <c:bubble3D val="0"/>
            <c:spPr>
              <a:solidFill>
                <a:srgbClr val="F9E79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C56-49D7-9BD4-27BBB59B19EE}"/>
              </c:ext>
            </c:extLst>
          </c:dPt>
          <c:dPt>
            <c:idx val="2"/>
            <c:bubble3D val="0"/>
            <c:spPr>
              <a:solidFill>
                <a:srgbClr val="97BC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C56-49D7-9BD4-27BBB59B19E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C56-49D7-9BD4-27BBB59B19E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C56-49D7-9BD4-27BBB59B19E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C56-49D7-9BD4-27BBB59B19E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High Margin</c:v>
                </c:pt>
                <c:pt idx="1">
                  <c:v>Low Margin</c:v>
                </c:pt>
                <c:pt idx="2">
                  <c:v>Medium Margin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45400</c:v>
                </c:pt>
                <c:pt idx="1">
                  <c:v>407579</c:v>
                </c:pt>
                <c:pt idx="2">
                  <c:v>95421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C56-49D7-9BD4-27BBB59B19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397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Motors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 Sales Analysis &amp; Strategic Insights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Head of Sales  •  Junior Data Analyst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across the full transaction history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79192" cy="1645920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679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$7.51B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10712" y="1463040"/>
            <a:ext cx="2679192" cy="1645920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3410712" y="1691640"/>
            <a:ext cx="2679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548,400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10712" y="2514600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Sold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72784" y="1463040"/>
            <a:ext cx="2679192" cy="1645920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6272784" y="1691640"/>
            <a:ext cx="2679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$13,689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272784" y="2514600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Selling Price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34856" y="1463040"/>
            <a:ext cx="2679192" cy="1645920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9134856" y="1691640"/>
            <a:ext cx="2679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-15.0%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134856" y="2514600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Margin vs MMR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914400" y="39319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548K+ vehicles sold across the network — Ford alone contributes ~18% of revenue.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914400" y="44348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prices average ~14% below MMR benchmark, signalling pricing pressure &amp; negotiation losses.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02920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914400" y="49377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 and Sedan body styles dominate volume; luxury makes (BMW, Mercedes, Lexus) lead in avg price.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553212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914400" y="54406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states (CA, FL, TX, PA, GA) account for the bulk of sales volume.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by Make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manufacturers ranked by total selling-price revenue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280160"/>
          <a:ext cx="7772400" cy="521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595360" y="1874520"/>
            <a:ext cx="914400" cy="36576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/>
          <p:nvPr/>
        </p:nvSpPr>
        <p:spPr>
          <a:xfrm>
            <a:off x="8595360" y="201168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leads with $1.36B in revenue — nearly 2× Chevrolet. Volume brands drive the top line, while BMW/Mercedes/Lexus deliver outsized $/unit.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10 Models by Revenue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SKUs to prioritise in inventory &amp; marketing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893230"/>
              </p:ext>
            </p:extLst>
          </p:nvPr>
        </p:nvGraphicFramePr>
        <p:xfrm>
          <a:off x="525780" y="1316736"/>
          <a:ext cx="7772400" cy="5410200"/>
        </p:xfrm>
        <a:graphic>
          <a:graphicData uri="http://schemas.openxmlformats.org/drawingml/2006/table">
            <a:tbl>
              <a:tblPr/>
              <a:tblGrid>
                <a:gridCol w="592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0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4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04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0457">
                  <a:extLst>
                    <a:ext uri="{9D8B030D-6E8A-4147-A177-3AD203B41FA5}">
                      <a16:colId xmlns:a16="http://schemas.microsoft.com/office/drawing/2014/main" val="367646144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Price ($)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14,479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$272.7M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$18,834</a:t>
                      </a:r>
                      <a:endParaRPr lang="en-US" sz="1300" dirty="0">
                        <a:latin typeface="+mn-lt"/>
                      </a:endParaRPr>
                    </a:p>
                    <a:p>
                      <a:pPr marL="0" indent="0">
                        <a:buNone/>
                      </a:pP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Nissan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Altima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19,349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$221.0M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$11,422</a:t>
                      </a:r>
                    </a:p>
                    <a:p>
                      <a:pPr marL="0" indent="0">
                        <a:buNone/>
                      </a:pP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$165.9M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$13,984</a:t>
                      </a:r>
                    </a:p>
                    <a:p>
                      <a:pPr marL="0" indent="0">
                        <a:buNone/>
                      </a:pP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12,945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$159.9M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$12,354</a:t>
                      </a:r>
                    </a:p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Sedan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$147.9M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$19,942</a:t>
                      </a:r>
                      <a:endParaRPr lang="en-US" sz="1300" dirty="0">
                        <a:latin typeface="+mn-lt"/>
                      </a:endParaRPr>
                    </a:p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$140.3M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$18,207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Toyota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$140.2M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$11,180</a:t>
                      </a:r>
                    </a:p>
                    <a:p>
                      <a:pPr marL="0" indent="0" algn="l" defTabSz="914400" rtl="0" eaLnBrk="1" latinLnBrk="0" hangingPunct="1">
                        <a:buNone/>
                      </a:pPr>
                      <a:endParaRPr lang="en-US" sz="1300" kern="1200" dirty="0">
                        <a:solidFill>
                          <a:srgbClr val="000000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$137.9M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$16,809</a:t>
                      </a:r>
                    </a:p>
                    <a:p>
                      <a:pPr marL="0" indent="0" algn="l" defTabSz="914400" rtl="0" eaLnBrk="1" latinLnBrk="0" hangingPunct="1">
                        <a:buNone/>
                      </a:pPr>
                      <a:endParaRPr lang="en-US" sz="1300" kern="1200" dirty="0">
                        <a:solidFill>
                          <a:srgbClr val="000000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$110.9M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$18,743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Chevrolet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Silverado 1500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$107.3M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$16,872</a:t>
                      </a:r>
                    </a:p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595360" y="1874520"/>
            <a:ext cx="914400" cy="36576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/>
          <p:nvPr/>
        </p:nvSpPr>
        <p:spPr>
          <a:xfrm>
            <a:off x="8595360" y="201168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F-150 is the single highest-revenue model. Stock pickups and family sedans (Altima, Fusion, Escape) aggressively — they convert.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 &amp; Customer Preference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type, transmission, and color preferences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709044593"/>
              </p:ext>
            </p:extLst>
          </p:nvPr>
        </p:nvGraphicFramePr>
        <p:xfrm>
          <a:off x="365760" y="1142999"/>
          <a:ext cx="5669280" cy="44396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886974"/>
              </p:ext>
            </p:extLst>
          </p:nvPr>
        </p:nvGraphicFramePr>
        <p:xfrm>
          <a:off x="6035040" y="769219"/>
          <a:ext cx="5852160" cy="296265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199,356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$11,574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119,292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$15,906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41,878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$12,269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24,552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$17,138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 Cab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13,280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$21,342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Minivan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21,363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$11,372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14,602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$15,242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Hatchback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21,380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$10,046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635508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SUVs &amp; Sedans dominate volume; pickups &amp; convertibles command the highest avg prices.</a:t>
            </a:r>
            <a:endParaRPr lang="en-US" sz="1200" dirty="0"/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DDD32E2E-425F-5D20-FD67-0521D24243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4298772"/>
              </p:ext>
            </p:extLst>
          </p:nvPr>
        </p:nvGraphicFramePr>
        <p:xfrm>
          <a:off x="6217920" y="4324952"/>
          <a:ext cx="25603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>
            <a:extLst>
              <a:ext uri="{FF2B5EF4-FFF2-40B4-BE49-F238E27FC236}">
                <a16:creationId xmlns:a16="http://schemas.microsoft.com/office/drawing/2014/main" id="{75C7C17B-6C27-C637-1F5B-1FDE954228EF}"/>
              </a:ext>
            </a:extLst>
          </p:cNvPr>
          <p:cNvSpPr/>
          <p:nvPr/>
        </p:nvSpPr>
        <p:spPr>
          <a:xfrm>
            <a:off x="8961120" y="41877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Vehicle Colors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EC04DD-8944-59A2-D3D6-F3C5905141A3}"/>
              </a:ext>
            </a:extLst>
          </p:cNvPr>
          <p:cNvSpPr txBox="1"/>
          <p:nvPr/>
        </p:nvSpPr>
        <p:spPr>
          <a:xfrm>
            <a:off x="9301853" y="4487142"/>
            <a:ext cx="5239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109K</a:t>
            </a:r>
            <a:endParaRPr lang="en-US" sz="110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EB2F3F9B-057C-4393-1858-5DB943BE9F3C}"/>
              </a:ext>
            </a:extLst>
          </p:cNvPr>
          <p:cNvSpPr/>
          <p:nvPr/>
        </p:nvSpPr>
        <p:spPr>
          <a:xfrm>
            <a:off x="9045821" y="4559006"/>
            <a:ext cx="256032" cy="2560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028C398D-1090-264D-9A17-6FACE48CD6DE}"/>
              </a:ext>
            </a:extLst>
          </p:cNvPr>
          <p:cNvSpPr/>
          <p:nvPr/>
        </p:nvSpPr>
        <p:spPr>
          <a:xfrm>
            <a:off x="9045821" y="5014923"/>
            <a:ext cx="256032" cy="25603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7FAEBF-2384-E919-F8FE-91E5B222735B}"/>
              </a:ext>
            </a:extLst>
          </p:cNvPr>
          <p:cNvSpPr txBox="1"/>
          <p:nvPr/>
        </p:nvSpPr>
        <p:spPr>
          <a:xfrm>
            <a:off x="9288055" y="4911932"/>
            <a:ext cx="5374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82K</a:t>
            </a:r>
            <a:endParaRPr lang="en-US" sz="11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C69CD3DC-0A12-EA70-12C5-6A9489166D0A}"/>
              </a:ext>
            </a:extLst>
          </p:cNvPr>
          <p:cNvSpPr/>
          <p:nvPr/>
        </p:nvSpPr>
        <p:spPr>
          <a:xfrm>
            <a:off x="9024966" y="547084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ZA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F21F58-F962-C830-3F21-F559DB4693BA}"/>
              </a:ext>
            </a:extLst>
          </p:cNvPr>
          <p:cNvSpPr txBox="1"/>
          <p:nvPr/>
        </p:nvSpPr>
        <p:spPr>
          <a:xfrm>
            <a:off x="9242976" y="5367849"/>
            <a:ext cx="5374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104K</a:t>
            </a:r>
            <a:endParaRPr lang="en-US" sz="110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043FF8E6-8188-104E-357E-98A39F0ABA36}"/>
              </a:ext>
            </a:extLst>
          </p:cNvPr>
          <p:cNvSpPr/>
          <p:nvPr/>
        </p:nvSpPr>
        <p:spPr>
          <a:xfrm>
            <a:off x="10320526" y="4529247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3A3BA0-9351-51E6-A4EF-047CFD700A2E}"/>
              </a:ext>
            </a:extLst>
          </p:cNvPr>
          <p:cNvSpPr txBox="1"/>
          <p:nvPr/>
        </p:nvSpPr>
        <p:spPr>
          <a:xfrm>
            <a:off x="10576558" y="4441819"/>
            <a:ext cx="457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</a:t>
            </a:r>
            <a:endParaRPr lang="en-US" sz="1100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0E6CC2D8-4DB2-6279-AD66-BC5FD68C3488}"/>
              </a:ext>
            </a:extLst>
          </p:cNvPr>
          <p:cNvSpPr/>
          <p:nvPr/>
        </p:nvSpPr>
        <p:spPr>
          <a:xfrm>
            <a:off x="10334964" y="4998239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331BB8-867D-BD4A-2B3A-2CB90CC5C581}"/>
              </a:ext>
            </a:extLst>
          </p:cNvPr>
          <p:cNvSpPr txBox="1"/>
          <p:nvPr/>
        </p:nvSpPr>
        <p:spPr>
          <a:xfrm>
            <a:off x="10590996" y="4910811"/>
            <a:ext cx="4491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43K</a:t>
            </a:r>
            <a:endParaRPr lang="en-US" sz="1100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1BAA2950-04C7-2066-C5AE-F85D0B8B77A6}"/>
              </a:ext>
            </a:extLst>
          </p:cNvPr>
          <p:cNvSpPr/>
          <p:nvPr/>
        </p:nvSpPr>
        <p:spPr>
          <a:xfrm>
            <a:off x="10334964" y="5470840"/>
            <a:ext cx="256032" cy="25603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F98B03-F559-0399-BA91-4CE1F5D8C603}"/>
              </a:ext>
            </a:extLst>
          </p:cNvPr>
          <p:cNvSpPr txBox="1"/>
          <p:nvPr/>
        </p:nvSpPr>
        <p:spPr>
          <a:xfrm>
            <a:off x="10680352" y="5383412"/>
            <a:ext cx="46522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Performance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states by total revenue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280160"/>
          <a:ext cx="7772400" cy="521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595360" y="1874520"/>
            <a:ext cx="914400" cy="36576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/>
          <p:nvPr/>
        </p:nvSpPr>
        <p:spPr>
          <a:xfrm>
            <a:off x="8237621" y="2011680"/>
            <a:ext cx="3649579" cy="4152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+ CA combined</a:t>
            </a:r>
          </a:p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$2.18B — 29% of total revenue</a:t>
            </a:r>
            <a:endParaRPr lang="en-US" sz="1400" dirty="0"/>
          </a:p>
          <a:p>
            <a:endParaRPr lang="en-US" sz="14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avg. price</a:t>
            </a:r>
          </a:p>
          <a:p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$16,038 — highest among top 10 states</a:t>
            </a:r>
            <a:endParaRPr lang="en-US" sz="1400" dirty="0"/>
          </a:p>
          <a:p>
            <a:endParaRPr lang="en-US" sz="14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avg. price</a:t>
            </a:r>
          </a:p>
          <a:p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$17,070 — strong premium market</a:t>
            </a:r>
            <a:endParaRPr lang="en-US" sz="1400" dirty="0"/>
          </a:p>
          <a:p>
            <a:endParaRPr lang="en-US" sz="14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states</a:t>
            </a:r>
          </a:p>
          <a:p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75%+ of total national revenue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</a:t>
            </a: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dealerships or boosting marketing spend in adjacent high-population states (NV, AZ, NC) is the natural growth play. </a:t>
            </a:r>
          </a:p>
          <a:p>
            <a:pPr marL="0" indent="0">
              <a:buNone/>
            </a:pPr>
            <a:endParaRPr lang="en-US" sz="13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 Age vs Selling Price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1356" y="977366"/>
            <a:ext cx="9694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selling price by year of manufacture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133996934"/>
              </p:ext>
            </p:extLst>
          </p:nvPr>
        </p:nvGraphicFramePr>
        <p:xfrm>
          <a:off x="548640" y="1280160"/>
          <a:ext cx="7568665" cy="4880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5">
            <a:extLst>
              <a:ext uri="{FF2B5EF4-FFF2-40B4-BE49-F238E27FC236}">
                <a16:creationId xmlns:a16="http://schemas.microsoft.com/office/drawing/2014/main" id="{F70C1F22-D328-D785-EE2F-79A720780220}"/>
              </a:ext>
            </a:extLst>
          </p:cNvPr>
          <p:cNvSpPr/>
          <p:nvPr/>
        </p:nvSpPr>
        <p:spPr>
          <a:xfrm>
            <a:off x="8437345" y="1834415"/>
            <a:ext cx="3541295" cy="41496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Observations:</a:t>
            </a:r>
          </a:p>
          <a:p>
            <a:endParaRPr lang="en-US" sz="1400" i="1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vehicles command exponentially higher prices — a clear depreciation curve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models avg $26,123 — 30% above 2014.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Pre-2010 vehicles: avg below $10K — high volume, low margin.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2013–2015 band drives most profitability.</a:t>
            </a:r>
          </a:p>
          <a:p>
            <a:endParaRPr lang="en-US" sz="14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focus inventory on 2012+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mix should skew toward 3–7-year-old stock for the best margin/turnover balance</a:t>
            </a:r>
          </a:p>
          <a:p>
            <a:endParaRPr lang="en-US" sz="14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FD78B84A-EBF3-9EEB-89A1-554E51039233}"/>
              </a:ext>
            </a:extLst>
          </p:cNvPr>
          <p:cNvSpPr/>
          <p:nvPr/>
        </p:nvSpPr>
        <p:spPr>
          <a:xfrm>
            <a:off x="859536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</a:t>
            </a:r>
            <a:endParaRPr lang="en-US" sz="180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134936E9-3B80-4FD2-D75A-817C9E8BBCF6}"/>
              </a:ext>
            </a:extLst>
          </p:cNvPr>
          <p:cNvSpPr/>
          <p:nvPr/>
        </p:nvSpPr>
        <p:spPr>
          <a:xfrm>
            <a:off x="8683592" y="1797839"/>
            <a:ext cx="914400" cy="36576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4235DBB-A5C3-5254-FF76-7984B42C4B03}"/>
              </a:ext>
            </a:extLst>
          </p:cNvPr>
          <p:cNvSpPr/>
          <p:nvPr/>
        </p:nvSpPr>
        <p:spPr>
          <a:xfrm>
            <a:off x="4134852" y="1645920"/>
            <a:ext cx="274320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331%</a:t>
            </a:r>
            <a:endParaRPr lang="en-US" sz="4400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Price increase from 2006 to 2015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Mileage vs Average Price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odometer reading impacts selling price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29169548"/>
              </p:ext>
            </p:extLst>
          </p:nvPr>
        </p:nvGraphicFramePr>
        <p:xfrm>
          <a:off x="548640" y="1280160"/>
          <a:ext cx="7772400" cy="5303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595360" y="1874520"/>
            <a:ext cx="914400" cy="36576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/>
          <p:nvPr/>
        </p:nvSpPr>
        <p:spPr>
          <a:xfrm>
            <a:off x="8595360" y="2011680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mileage tier roughly halves the average sale price. Source low-mileage trade-ins aggressively — they yield 2-3× the revenue per unit.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Tiers vs MMR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transactions by margin band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280160"/>
          <a:ext cx="5486400" cy="521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0" y="1920240"/>
            <a:ext cx="914400" cy="36576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Shape 5"/>
          <p:cNvSpPr/>
          <p:nvPr/>
        </p:nvSpPr>
        <p:spPr>
          <a:xfrm>
            <a:off x="6400800" y="233172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/>
          <p:nvPr/>
        </p:nvSpPr>
        <p:spPr>
          <a:xfrm>
            <a:off x="6675120" y="224028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Margin (&gt;15% over MMR): premium negotiating wins — replicate sales scripts.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0" y="310896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8"/>
          <p:cNvSpPr/>
          <p:nvPr/>
        </p:nvSpPr>
        <p:spPr>
          <a:xfrm>
            <a:off x="6675120" y="301752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Margin (5–15%): solid majority — protect with pricing guardrails.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0" y="388620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/>
          <p:nvPr/>
        </p:nvSpPr>
        <p:spPr>
          <a:xfrm>
            <a:off x="6675120" y="379476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Margin (&lt;5%): heavy discounting eroding profit — flag for manager review.</a:t>
            </a:r>
            <a:endParaRPr lang="en-US" sz="13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154ADF-B231-EE4A-BE8B-C56B6EB663F6}"/>
              </a:ext>
            </a:extLst>
          </p:cNvPr>
          <p:cNvSpPr txBox="1"/>
          <p:nvPr/>
        </p:nvSpPr>
        <p:spPr>
          <a:xfrm>
            <a:off x="6096000" y="4567536"/>
            <a:ext cx="598370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pricing strategy for low-margin vehicles. Focus on luxury/late-model inventory where margin is structurally higher.</a:t>
            </a:r>
            <a:endParaRPr lang="en-ZA" sz="13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 down on hero SKUs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≥30% of inventory to Ford F-150, Altima, Escape and Fusion — they reliably move at strong prices.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 in proven regions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788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or partner with dealerships in CA-adjacent and TX-adjacent markets where demand is already proven.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3429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Skew younger &amp; lower-mileage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794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sourcing 3–7-year-old, sub-50k-mile trade-ins. Each tier almost halves average price.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4864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71600" y="4434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the MMR gap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800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sale is ~14% below MMR — introduce floor pricing and train sales reps using High-Margin deal patterns.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548640" y="5440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71600" y="5440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live performance dashboard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5806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revenue, margin and regional KPIs daily — included as part of this delivery.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12188952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2560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08076" y="3794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 •  Live dashboard available</a:t>
            </a:r>
          </a:p>
          <a:p>
            <a:pPr marL="0" indent="0" algn="ctr">
              <a:buNone/>
            </a:pPr>
            <a:endParaRPr lang="en-US" i="1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i="1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bkramogayane@gmail.com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823</Words>
  <Application>Microsoft Office PowerPoint</Application>
  <PresentationFormat>Widescreen</PresentationFormat>
  <Paragraphs>221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Motors Car Sales Analysis</dc:title>
  <dc:subject>PptxGenJS Presentation</dc:subject>
  <dc:creator>PptxGenJS</dc:creator>
  <cp:lastModifiedBy>Boitumelo Ramogayane</cp:lastModifiedBy>
  <cp:revision>3</cp:revision>
  <dcterms:created xsi:type="dcterms:W3CDTF">2026-05-04T01:06:58Z</dcterms:created>
  <dcterms:modified xsi:type="dcterms:W3CDTF">2026-05-06T02:16:32Z</dcterms:modified>
</cp:coreProperties>
</file>